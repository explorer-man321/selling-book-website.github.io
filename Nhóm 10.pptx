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x Gyre Termes Italics" charset="1" panose="00000500000000000000"/>
      <p:regular r:id="rId19"/>
    </p:embeddedFont>
    <p:embeddedFont>
      <p:font typeface="Canva Sans Italics" charset="1" panose="020B0503030501040103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tiem-sach-sv.vercel.app/HTML" TargetMode="External" Type="http://schemas.openxmlformats.org/officeDocument/2006/relationships/hyperlink"/><Relationship Id="rId4" Target="https://tiem-sach-sv.vercel.app/HTML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7350" y="-128774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78535" y="3172753"/>
            <a:ext cx="16266234" cy="477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0"/>
              </a:lnSpc>
            </a:pPr>
            <a:r>
              <a:rPr lang="en-US" sz="23120" i="true" spc="-2034">
                <a:solidFill>
                  <a:srgbClr val="29242C"/>
                </a:solidFill>
                <a:latin typeface="Tex Gyre Termes Italics"/>
                <a:ea typeface="Tex Gyre Termes Italics"/>
                <a:cs typeface="Tex Gyre Termes Italics"/>
                <a:sym typeface="Tex Gyre Termes Italics"/>
              </a:rPr>
              <a:t>Nhóm 10</a:t>
            </a:r>
          </a:p>
          <a:p>
            <a:pPr algn="ctr">
              <a:lnSpc>
                <a:spcPts val="1734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2298507">
            <a:off x="12919967" y="8682489"/>
            <a:ext cx="381422" cy="582323"/>
          </a:xfrm>
          <a:custGeom>
            <a:avLst/>
            <a:gdLst/>
            <a:ahLst/>
            <a:cxnLst/>
            <a:rect r="r" b="b" t="t" l="l"/>
            <a:pathLst>
              <a:path h="582323" w="381422">
                <a:moveTo>
                  <a:pt x="0" y="0"/>
                </a:moveTo>
                <a:lnTo>
                  <a:pt x="381422" y="0"/>
                </a:lnTo>
                <a:lnTo>
                  <a:pt x="381422" y="582324"/>
                </a:lnTo>
                <a:lnTo>
                  <a:pt x="0" y="5823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68683" y="2673121"/>
            <a:ext cx="2154265" cy="2914084"/>
          </a:xfrm>
          <a:custGeom>
            <a:avLst/>
            <a:gdLst/>
            <a:ahLst/>
            <a:cxnLst/>
            <a:rect r="r" b="b" t="t" l="l"/>
            <a:pathLst>
              <a:path h="2914084" w="2154265">
                <a:moveTo>
                  <a:pt x="0" y="0"/>
                </a:moveTo>
                <a:lnTo>
                  <a:pt x="2154266" y="0"/>
                </a:lnTo>
                <a:lnTo>
                  <a:pt x="2154266" y="2914084"/>
                </a:lnTo>
                <a:lnTo>
                  <a:pt x="0" y="2914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143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27452" y="9167942"/>
            <a:ext cx="14148743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</a:pPr>
            <a:r>
              <a:rPr lang="en-US" sz="3999" i="true" u="sng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ĐỀ TÀI: WEBSITE BÁN SÁCH TRỰC TUYẾN </a:t>
            </a:r>
          </a:p>
          <a:p>
            <a:pPr algn="ctr">
              <a:lnSpc>
                <a:spcPts val="63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4517948" y="1731668"/>
            <a:ext cx="3316495" cy="941453"/>
            <a:chOff x="0" y="0"/>
            <a:chExt cx="4421993" cy="12552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21993" cy="1006003"/>
            </a:xfrm>
            <a:custGeom>
              <a:avLst/>
              <a:gdLst/>
              <a:ahLst/>
              <a:cxnLst/>
              <a:rect r="r" b="b" t="t" l="l"/>
              <a:pathLst>
                <a:path h="1006003" w="4421993">
                  <a:moveTo>
                    <a:pt x="0" y="0"/>
                  </a:moveTo>
                  <a:lnTo>
                    <a:pt x="4421993" y="0"/>
                  </a:lnTo>
                  <a:lnTo>
                    <a:pt x="4421993" y="1006003"/>
                  </a:lnTo>
                  <a:lnTo>
                    <a:pt x="0" y="1006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5114" y="234650"/>
              <a:ext cx="4191765" cy="1020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147" i="true" u="sng">
                  <a:solidFill>
                    <a:srgbClr val="29242C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Trang web bán sách </a:t>
              </a:r>
            </a:p>
            <a:p>
              <a:pPr algn="ctr">
                <a:lnSpc>
                  <a:spcPts val="293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12363683" y="2673121"/>
            <a:ext cx="2154265" cy="2914084"/>
          </a:xfrm>
          <a:custGeom>
            <a:avLst/>
            <a:gdLst/>
            <a:ahLst/>
            <a:cxnLst/>
            <a:rect r="r" b="b" t="t" l="l"/>
            <a:pathLst>
              <a:path h="2914084" w="2154265">
                <a:moveTo>
                  <a:pt x="2154265" y="0"/>
                </a:moveTo>
                <a:lnTo>
                  <a:pt x="0" y="0"/>
                </a:lnTo>
                <a:lnTo>
                  <a:pt x="0" y="2914084"/>
                </a:lnTo>
                <a:lnTo>
                  <a:pt x="2154265" y="2914084"/>
                </a:lnTo>
                <a:lnTo>
                  <a:pt x="215426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3143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27452" y="6270475"/>
            <a:ext cx="14148743" cy="235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0"/>
              </a:lnSpc>
            </a:pPr>
            <a:r>
              <a:rPr lang="en-US" sz="3000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GIÁO VIÊN HƯỚNG DẪN: ThS. PHẠM THANH TÙNG</a:t>
            </a:r>
          </a:p>
          <a:p>
            <a:pPr algn="ctr">
              <a:lnSpc>
                <a:spcPts val="4770"/>
              </a:lnSpc>
            </a:pPr>
            <a:r>
              <a:rPr lang="en-US" sz="3000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NHÓM THỰC HIỆN: NHÓM 10</a:t>
            </a:r>
          </a:p>
          <a:p>
            <a:pPr algn="ctr">
              <a:lnSpc>
                <a:spcPts val="4770"/>
              </a:lnSpc>
            </a:pPr>
            <a:r>
              <a:rPr lang="en-US" sz="3000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Tên lớp học phần: DHKHMT20B</a:t>
            </a:r>
          </a:p>
          <a:p>
            <a:pPr algn="ctr">
              <a:lnSpc>
                <a:spcPts val="4770"/>
              </a:lnSpc>
            </a:pPr>
            <a:r>
              <a:rPr lang="en-US" sz="3000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Mã lớp học phần 420300214503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548" y="1882380"/>
            <a:ext cx="14736830" cy="8404620"/>
          </a:xfrm>
          <a:custGeom>
            <a:avLst/>
            <a:gdLst/>
            <a:ahLst/>
            <a:cxnLst/>
            <a:rect r="r" b="b" t="t" l="l"/>
            <a:pathLst>
              <a:path h="8404620" w="14736830">
                <a:moveTo>
                  <a:pt x="0" y="0"/>
                </a:moveTo>
                <a:lnTo>
                  <a:pt x="14736831" y="0"/>
                </a:lnTo>
                <a:lnTo>
                  <a:pt x="14736831" y="8404620"/>
                </a:lnTo>
                <a:lnTo>
                  <a:pt x="0" y="8404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1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47355" y="353377"/>
            <a:ext cx="13993216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0"/>
              </a:lnSpc>
            </a:pPr>
            <a:r>
              <a:rPr lang="en-US" b="true" sz="6000">
                <a:solidFill>
                  <a:srgbClr val="2924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DANH SÁCH NHÓM 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tiem-sach-sv.vercel.app/HTML"/>
          </p:cNvPr>
          <p:cNvSpPr/>
          <p:nvPr/>
        </p:nvSpPr>
        <p:spPr>
          <a:xfrm flipH="false" flipV="false" rot="0">
            <a:off x="5714564" y="514796"/>
            <a:ext cx="7271954" cy="7271954"/>
          </a:xfrm>
          <a:custGeom>
            <a:avLst/>
            <a:gdLst/>
            <a:ahLst/>
            <a:cxnLst/>
            <a:rect r="r" b="b" t="t" l="l"/>
            <a:pathLst>
              <a:path h="7271954" w="7271954">
                <a:moveTo>
                  <a:pt x="0" y="0"/>
                </a:moveTo>
                <a:lnTo>
                  <a:pt x="7271953" y="0"/>
                </a:lnTo>
                <a:lnTo>
                  <a:pt x="7271953" y="7271954"/>
                </a:lnTo>
                <a:lnTo>
                  <a:pt x="0" y="727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28592" y="8014107"/>
            <a:ext cx="9631001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tiem-sach-sv.vercel.app/HTML"/>
              </a:rPr>
              <a:t>https://tiem-sach-sv.vercel.app/HTML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925729"/>
            <a:ext cx="10636852" cy="5092393"/>
          </a:xfrm>
          <a:custGeom>
            <a:avLst/>
            <a:gdLst/>
            <a:ahLst/>
            <a:cxnLst/>
            <a:rect r="r" b="b" t="t" l="l"/>
            <a:pathLst>
              <a:path h="5092393" w="10636852">
                <a:moveTo>
                  <a:pt x="0" y="0"/>
                </a:moveTo>
                <a:lnTo>
                  <a:pt x="10636852" y="0"/>
                </a:lnTo>
                <a:lnTo>
                  <a:pt x="10636852" y="5092393"/>
                </a:lnTo>
                <a:lnTo>
                  <a:pt x="0" y="509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9622" y="3990351"/>
            <a:ext cx="13294735" cy="221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2"/>
              </a:lnSpc>
            </a:pPr>
            <a:r>
              <a:rPr lang="en-US" sz="2818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Website được xây dựng nhằm bán sách online</a:t>
            </a:r>
          </a:p>
          <a:p>
            <a:pPr algn="ctr">
              <a:lnSpc>
                <a:spcPts val="4482"/>
              </a:lnSpc>
            </a:pPr>
            <a:r>
              <a:rPr lang="en-US" sz="2818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Giúp người dùng dễ dà</a:t>
            </a:r>
            <a:r>
              <a:rPr lang="en-US" sz="2818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ng tìm kiếm và mua sách</a:t>
            </a:r>
          </a:p>
          <a:p>
            <a:pPr algn="ctr">
              <a:lnSpc>
                <a:spcPts val="4482"/>
              </a:lnSpc>
            </a:pPr>
            <a:r>
              <a:rPr lang="en-US" sz="2818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Giao diện đơn giản, dễ sử dụng</a:t>
            </a:r>
          </a:p>
          <a:p>
            <a:pPr algn="ctr">
              <a:lnSpc>
                <a:spcPts val="448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7350" y="-128774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14043" y="2714440"/>
            <a:ext cx="7122569" cy="6543860"/>
          </a:xfrm>
          <a:custGeom>
            <a:avLst/>
            <a:gdLst/>
            <a:ahLst/>
            <a:cxnLst/>
            <a:rect r="r" b="b" t="t" l="l"/>
            <a:pathLst>
              <a:path h="6543860" w="7122569">
                <a:moveTo>
                  <a:pt x="0" y="0"/>
                </a:moveTo>
                <a:lnTo>
                  <a:pt x="7122569" y="0"/>
                </a:lnTo>
                <a:lnTo>
                  <a:pt x="7122569" y="6543860"/>
                </a:lnTo>
                <a:lnTo>
                  <a:pt x="0" y="654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25153" y="3070528"/>
            <a:ext cx="6175039" cy="6175039"/>
          </a:xfrm>
          <a:custGeom>
            <a:avLst/>
            <a:gdLst/>
            <a:ahLst/>
            <a:cxnLst/>
            <a:rect r="r" b="b" t="t" l="l"/>
            <a:pathLst>
              <a:path h="6175039" w="6175039">
                <a:moveTo>
                  <a:pt x="0" y="0"/>
                </a:moveTo>
                <a:lnTo>
                  <a:pt x="6175039" y="0"/>
                </a:lnTo>
                <a:lnTo>
                  <a:pt x="6175039" y="6175038"/>
                </a:lnTo>
                <a:lnTo>
                  <a:pt x="0" y="61750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641646"/>
            <a:ext cx="12373712" cy="65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3498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Mục Tiêu Và Đối Tượng Hướng đến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228108"/>
            <a:ext cx="6693255" cy="773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Xây dựng web</a:t>
            </a: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site bán sách trực tuyến đơn giản, dễ sử dụng</a:t>
            </a:r>
          </a:p>
          <a:p>
            <a:pPr algn="ctr" marL="0" indent="0" lvl="0">
              <a:lnSpc>
                <a:spcPts val="5141"/>
              </a:lnSpc>
            </a:pPr>
          </a:p>
          <a:p>
            <a:pPr algn="ctr" marL="0" indent="0" lvl="0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Giúp người dùng tìm kiếm và mua sách nhanh chóng</a:t>
            </a:r>
          </a:p>
          <a:p>
            <a:pPr algn="ctr">
              <a:lnSpc>
                <a:spcPts val="5141"/>
              </a:lnSpc>
            </a:pPr>
          </a:p>
          <a:p>
            <a:pPr algn="ctr" marL="0" indent="0" lvl="0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Tối ưu trải nghiệm người dùng (giao diện rõ ràng, dễ thao tác)</a:t>
            </a:r>
          </a:p>
          <a:p>
            <a:pPr algn="ctr">
              <a:lnSpc>
                <a:spcPts val="5141"/>
              </a:lnSpc>
            </a:pPr>
          </a:p>
          <a:p>
            <a:pPr algn="ctr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Áp dụng kiến thức HTML, CSS, JavaScript vào thực tế</a:t>
            </a:r>
          </a:p>
          <a:p>
            <a:pPr algn="ctr">
              <a:lnSpc>
                <a:spcPts val="514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566045" y="2946703"/>
            <a:ext cx="6693255" cy="644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Ngườ</a:t>
            </a: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i yêu thích đọc sách</a:t>
            </a:r>
          </a:p>
          <a:p>
            <a:pPr algn="ctr">
              <a:lnSpc>
                <a:spcPts val="5141"/>
              </a:lnSpc>
            </a:pPr>
          </a:p>
          <a:p>
            <a:pPr algn="ctr" marL="0" indent="0" lvl="0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Sinh viên, học sinh cần tài liệu học tập</a:t>
            </a:r>
          </a:p>
          <a:p>
            <a:pPr algn="ctr">
              <a:lnSpc>
                <a:spcPts val="5141"/>
              </a:lnSpc>
            </a:pPr>
          </a:p>
          <a:p>
            <a:pPr algn="ctr" marL="0" indent="0" lvl="0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Người bận rộn, không có thời gian đến nhà sách</a:t>
            </a:r>
          </a:p>
          <a:p>
            <a:pPr algn="ctr">
              <a:lnSpc>
                <a:spcPts val="5141"/>
              </a:lnSpc>
            </a:pPr>
          </a:p>
          <a:p>
            <a:pPr algn="ctr">
              <a:lnSpc>
                <a:spcPts val="5141"/>
              </a:lnSpc>
            </a:pPr>
            <a:r>
              <a:rPr lang="en-US" sz="323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Người quen mua sắm online</a:t>
            </a:r>
          </a:p>
          <a:p>
            <a:pPr algn="ctr">
              <a:lnSpc>
                <a:spcPts val="514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4387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61626" y="2539583"/>
            <a:ext cx="8293822" cy="1207417"/>
            <a:chOff x="0" y="0"/>
            <a:chExt cx="11058429" cy="16098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80189" y="0"/>
              <a:ext cx="6537619" cy="1609889"/>
            </a:xfrm>
            <a:custGeom>
              <a:avLst/>
              <a:gdLst/>
              <a:ahLst/>
              <a:cxnLst/>
              <a:rect r="r" b="b" t="t" l="l"/>
              <a:pathLst>
                <a:path h="1609889" w="6537619">
                  <a:moveTo>
                    <a:pt x="0" y="0"/>
                  </a:moveTo>
                  <a:lnTo>
                    <a:pt x="6537619" y="0"/>
                  </a:lnTo>
                  <a:lnTo>
                    <a:pt x="6537619" y="1609889"/>
                  </a:lnTo>
                  <a:lnTo>
                    <a:pt x="0" y="1609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1117"/>
              <a:ext cx="11058429" cy="1121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60"/>
                </a:lnSpc>
              </a:pPr>
              <a:r>
                <a:rPr lang="en-US" sz="4691">
                  <a:solidFill>
                    <a:srgbClr val="29242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Trang Chủ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1042735" y="1708575"/>
            <a:ext cx="6216565" cy="8143700"/>
          </a:xfrm>
          <a:custGeom>
            <a:avLst/>
            <a:gdLst/>
            <a:ahLst/>
            <a:cxnLst/>
            <a:rect r="r" b="b" t="t" l="l"/>
            <a:pathLst>
              <a:path h="8143700" w="6216565">
                <a:moveTo>
                  <a:pt x="6216565" y="0"/>
                </a:moveTo>
                <a:lnTo>
                  <a:pt x="0" y="0"/>
                </a:lnTo>
                <a:lnTo>
                  <a:pt x="0" y="8143700"/>
                </a:lnTo>
                <a:lnTo>
                  <a:pt x="6216565" y="8143700"/>
                </a:lnTo>
                <a:lnTo>
                  <a:pt x="621656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58524" y="4345814"/>
            <a:ext cx="11301259" cy="4633516"/>
          </a:xfrm>
          <a:custGeom>
            <a:avLst/>
            <a:gdLst/>
            <a:ahLst/>
            <a:cxnLst/>
            <a:rect r="r" b="b" t="t" l="l"/>
            <a:pathLst>
              <a:path h="4633516" w="11301259">
                <a:moveTo>
                  <a:pt x="0" y="0"/>
                </a:moveTo>
                <a:lnTo>
                  <a:pt x="11301259" y="0"/>
                </a:lnTo>
                <a:lnTo>
                  <a:pt x="11301259" y="4633517"/>
                </a:lnTo>
                <a:lnTo>
                  <a:pt x="0" y="46335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72025" y="3376474"/>
            <a:ext cx="5552031" cy="588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 Header: Logo, ô tìm kiếm, nav danh mục, icon giỏ hàng, icon đăng nhập</a:t>
            </a:r>
          </a:p>
          <a:p>
            <a:pPr algn="ctr" marL="0" indent="0" lvl="0">
              <a:lnSpc>
                <a:spcPts val="4265"/>
              </a:lnSpc>
            </a:pPr>
          </a:p>
          <a:p>
            <a:pPr algn="ctr" marL="0" indent="0" lvl="0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 Content: Banner quảng cáo, danh mục nổi bật, lưới card sách, banner khuyến mãi </a:t>
            </a:r>
          </a:p>
          <a:p>
            <a:pPr algn="ctr" marL="0" indent="0" lvl="0">
              <a:lnSpc>
                <a:spcPts val="4265"/>
              </a:lnSpc>
            </a:pPr>
          </a:p>
          <a:p>
            <a:pPr algn="ctr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    Footer: Giới thiệu, danh mục, hỗ trợ, liên hệ, đăng ký nhận tin</a:t>
            </a:r>
          </a:p>
          <a:p>
            <a:pPr algn="ctr">
              <a:lnSpc>
                <a:spcPts val="426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965478" y="1664097"/>
            <a:ext cx="8293822" cy="11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7"/>
              </a:lnSpc>
            </a:pPr>
            <a:r>
              <a:rPr lang="en-US" b="true" sz="5991">
                <a:solidFill>
                  <a:srgbClr val="2924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Layout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9748" y="3643716"/>
            <a:ext cx="10754366" cy="4332088"/>
          </a:xfrm>
          <a:custGeom>
            <a:avLst/>
            <a:gdLst/>
            <a:ahLst/>
            <a:cxnLst/>
            <a:rect r="r" b="b" t="t" l="l"/>
            <a:pathLst>
              <a:path h="4332088" w="10754366">
                <a:moveTo>
                  <a:pt x="0" y="0"/>
                </a:moveTo>
                <a:lnTo>
                  <a:pt x="10754367" y="0"/>
                </a:lnTo>
                <a:lnTo>
                  <a:pt x="10754367" y="4332088"/>
                </a:lnTo>
                <a:lnTo>
                  <a:pt x="0" y="4332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7207" y="680085"/>
            <a:ext cx="6194037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3999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Trang danh mục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3968" y="2042224"/>
            <a:ext cx="5264812" cy="806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182" indent="-274591" lvl="1">
              <a:lnSpc>
                <a:spcPts val="4044"/>
              </a:lnSpc>
              <a:buAutoNum type="arabicPeriod" startAt="1"/>
            </a:pPr>
            <a:r>
              <a:rPr lang="en-US" sz="254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Hiển thị danh sách sách theo từng danh mục (VD: Khoa học, Kinh tế, Thiếu nhi…)</a:t>
            </a:r>
          </a:p>
          <a:p>
            <a:pPr algn="l">
              <a:lnSpc>
                <a:spcPts val="4044"/>
              </a:lnSpc>
            </a:pPr>
          </a:p>
          <a:p>
            <a:pPr algn="l" marL="549182" indent="-274591" lvl="1">
              <a:lnSpc>
                <a:spcPts val="4044"/>
              </a:lnSpc>
              <a:buAutoNum type="arabicPeriod" startAt="1"/>
            </a:pPr>
            <a:r>
              <a:rPr lang="en-US" sz="254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Sách được trình bày dạng lưới (card)</a:t>
            </a:r>
          </a:p>
          <a:p>
            <a:pPr algn="l">
              <a:lnSpc>
                <a:spcPts val="4044"/>
              </a:lnSpc>
            </a:pPr>
          </a:p>
          <a:p>
            <a:pPr algn="l" marL="549182" indent="-274591" lvl="1">
              <a:lnSpc>
                <a:spcPts val="4044"/>
              </a:lnSpc>
              <a:buAutoNum type="arabicPeriod" startAt="1"/>
            </a:pPr>
            <a:r>
              <a:rPr lang="en-US" sz="254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Mỗi sản phẩm gồm: ảnh bìa, tên sách, giá</a:t>
            </a:r>
          </a:p>
          <a:p>
            <a:pPr algn="l">
              <a:lnSpc>
                <a:spcPts val="4044"/>
              </a:lnSpc>
            </a:pPr>
          </a:p>
          <a:p>
            <a:pPr algn="l" marL="549182" indent="-274591" lvl="1">
              <a:lnSpc>
                <a:spcPts val="4044"/>
              </a:lnSpc>
              <a:buAutoNum type="arabicPeriod" startAt="1"/>
            </a:pPr>
            <a:r>
              <a:rPr lang="en-US" sz="254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Có nút “Thêm vào giỏ hàng”</a:t>
            </a:r>
          </a:p>
          <a:p>
            <a:pPr algn="l">
              <a:lnSpc>
                <a:spcPts val="4044"/>
              </a:lnSpc>
            </a:pPr>
          </a:p>
          <a:p>
            <a:pPr algn="l" marL="549182" indent="-274591" lvl="1">
              <a:lnSpc>
                <a:spcPts val="4044"/>
              </a:lnSpc>
              <a:buAutoNum type="arabicPeriod" startAt="1"/>
            </a:pPr>
            <a:r>
              <a:rPr lang="en-US" sz="2543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Chức năng lọc và sắp xếp sách theo ý muốn.</a:t>
            </a:r>
          </a:p>
          <a:p>
            <a:pPr algn="l">
              <a:lnSpc>
                <a:spcPts val="4044"/>
              </a:lnSpc>
            </a:pPr>
          </a:p>
          <a:p>
            <a:pPr algn="l">
              <a:lnSpc>
                <a:spcPts val="404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3113181"/>
            <a:ext cx="9479635" cy="5539872"/>
          </a:xfrm>
          <a:custGeom>
            <a:avLst/>
            <a:gdLst/>
            <a:ahLst/>
            <a:cxnLst/>
            <a:rect r="r" b="b" t="t" l="l"/>
            <a:pathLst>
              <a:path h="5539872" w="9479635">
                <a:moveTo>
                  <a:pt x="0" y="0"/>
                </a:moveTo>
                <a:lnTo>
                  <a:pt x="9479635" y="0"/>
                </a:lnTo>
                <a:lnTo>
                  <a:pt x="9479635" y="5539872"/>
                </a:lnTo>
                <a:lnTo>
                  <a:pt x="0" y="5539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7207" y="680085"/>
            <a:ext cx="10250062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3999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Trang Thông tin chi tiết sách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53288" y="3008406"/>
            <a:ext cx="5552031" cy="583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Hiển thị đầy đủ thông tin của 1 cuốn sách</a:t>
            </a:r>
          </a:p>
          <a:p>
            <a:pPr algn="l">
              <a:lnSpc>
                <a:spcPts val="4265"/>
              </a:lnSpc>
            </a:pPr>
          </a:p>
          <a:p>
            <a:pPr algn="l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Bao gồm: ảnh bìa, tên sách, giá, tác giả</a:t>
            </a:r>
          </a:p>
          <a:p>
            <a:pPr algn="l">
              <a:lnSpc>
                <a:spcPts val="4265"/>
              </a:lnSpc>
            </a:pPr>
          </a:p>
          <a:p>
            <a:pPr algn="l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Mô tả chi tiết nội dung sách</a:t>
            </a:r>
          </a:p>
          <a:p>
            <a:pPr algn="l">
              <a:lnSpc>
                <a:spcPts val="4265"/>
              </a:lnSpc>
            </a:pPr>
          </a:p>
          <a:p>
            <a:pPr algn="l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Thông tin bổ sung: nhà xuất bản, chính sách</a:t>
            </a:r>
          </a:p>
          <a:p>
            <a:pPr algn="l">
              <a:lnSpc>
                <a:spcPts val="426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7350" y="-128774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70391" y="2951075"/>
            <a:ext cx="10725312" cy="4256076"/>
          </a:xfrm>
          <a:custGeom>
            <a:avLst/>
            <a:gdLst/>
            <a:ahLst/>
            <a:cxnLst/>
            <a:rect r="r" b="b" t="t" l="l"/>
            <a:pathLst>
              <a:path h="4256076" w="10725312">
                <a:moveTo>
                  <a:pt x="0" y="0"/>
                </a:moveTo>
                <a:lnTo>
                  <a:pt x="10725311" y="0"/>
                </a:lnTo>
                <a:lnTo>
                  <a:pt x="10725311" y="4256076"/>
                </a:lnTo>
                <a:lnTo>
                  <a:pt x="0" y="4256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1364" y="775634"/>
            <a:ext cx="3758103" cy="41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8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Trang Thanh Toán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95702" y="2417378"/>
            <a:ext cx="6866824" cy="619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1709" indent="-305855" lvl="1">
              <a:lnSpc>
                <a:spcPts val="4504"/>
              </a:lnSpc>
              <a:spcBef>
                <a:spcPct val="0"/>
              </a:spcBef>
              <a:buFont typeface="Arial"/>
              <a:buChar char="•"/>
            </a:pPr>
            <a:r>
              <a:rPr lang="en-US" sz="2833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Bảng g</a:t>
            </a:r>
            <a:r>
              <a:rPr lang="en-US" sz="2833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iỏ hàng: Hiển thị sách từ localStorage, điều chỉnh số lượng (+/−), xóa sản phẩm, tính tổng tiền tự động</a:t>
            </a:r>
          </a:p>
          <a:p>
            <a:pPr algn="ctr" marL="611709" indent="-305855" lvl="1">
              <a:lnSpc>
                <a:spcPts val="4504"/>
              </a:lnSpc>
              <a:spcBef>
                <a:spcPct val="0"/>
              </a:spcBef>
              <a:buFont typeface="Arial"/>
              <a:buChar char="•"/>
            </a:pPr>
            <a:r>
              <a:rPr lang="en-US" sz="2833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Form Thanh Toán: Nhập họ tên, email, địa chỉ — xác thực, hiện lỗi trực tiếp</a:t>
            </a:r>
          </a:p>
          <a:p>
            <a:pPr algn="ctr" marL="611709" indent="-305855" lvl="1">
              <a:lnSpc>
                <a:spcPts val="4504"/>
              </a:lnSpc>
              <a:spcBef>
                <a:spcPct val="0"/>
              </a:spcBef>
              <a:buFont typeface="Arial"/>
              <a:buChar char="•"/>
            </a:pPr>
            <a:r>
              <a:rPr lang="en-US" sz="2833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Xử lý đặt hàng: Sau khi submit hợp lệ — xóa giỏ hàng, hiển thị thông báo đặt hàng thành công</a:t>
            </a:r>
          </a:p>
          <a:p>
            <a:pPr algn="ctr">
              <a:lnSpc>
                <a:spcPts val="45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46455" y="3970125"/>
            <a:ext cx="9900654" cy="4110817"/>
          </a:xfrm>
          <a:custGeom>
            <a:avLst/>
            <a:gdLst/>
            <a:ahLst/>
            <a:cxnLst/>
            <a:rect r="r" b="b" t="t" l="l"/>
            <a:pathLst>
              <a:path h="4110817" w="9900654">
                <a:moveTo>
                  <a:pt x="0" y="0"/>
                </a:moveTo>
                <a:lnTo>
                  <a:pt x="9900654" y="0"/>
                </a:lnTo>
                <a:lnTo>
                  <a:pt x="9900654" y="4110817"/>
                </a:lnTo>
                <a:lnTo>
                  <a:pt x="0" y="4110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03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1954" y="742950"/>
            <a:ext cx="10250062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3999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Trang Đăng nhập đăng ký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3072" y="3421062"/>
            <a:ext cx="7029533" cy="55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7"/>
              </a:lnSpc>
            </a:pPr>
            <a:r>
              <a:rPr lang="en-US" sz="34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Form</a:t>
            </a:r>
            <a:r>
              <a:rPr lang="en-US" sz="34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 đăng nhập: email, mật khẩu</a:t>
            </a:r>
          </a:p>
          <a:p>
            <a:pPr algn="l">
              <a:lnSpc>
                <a:spcPts val="5537"/>
              </a:lnSpc>
            </a:pPr>
          </a:p>
          <a:p>
            <a:pPr algn="l">
              <a:lnSpc>
                <a:spcPts val="5537"/>
              </a:lnSpc>
            </a:pPr>
            <a:r>
              <a:rPr lang="en-US" sz="34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Form đăng ký: họ tên, email, mật khẩu, xác nhận mật khẩu</a:t>
            </a:r>
          </a:p>
          <a:p>
            <a:pPr algn="l">
              <a:lnSpc>
                <a:spcPts val="5537"/>
              </a:lnSpc>
            </a:pPr>
          </a:p>
          <a:p>
            <a:pPr algn="l">
              <a:lnSpc>
                <a:spcPts val="5537"/>
              </a:lnSpc>
            </a:pPr>
            <a:r>
              <a:rPr lang="en-US" sz="34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Có chuyển đổi giữa Đăng nhập / Đăng ký</a:t>
            </a:r>
          </a:p>
          <a:p>
            <a:pPr algn="l">
              <a:lnSpc>
                <a:spcPts val="553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63698" y="2042581"/>
            <a:ext cx="8380302" cy="7699402"/>
          </a:xfrm>
          <a:custGeom>
            <a:avLst/>
            <a:gdLst/>
            <a:ahLst/>
            <a:cxnLst/>
            <a:rect r="r" b="b" t="t" l="l"/>
            <a:pathLst>
              <a:path h="7699402" w="8380302">
                <a:moveTo>
                  <a:pt x="0" y="0"/>
                </a:moveTo>
                <a:lnTo>
                  <a:pt x="8380302" y="0"/>
                </a:lnTo>
                <a:lnTo>
                  <a:pt x="8380302" y="7699402"/>
                </a:lnTo>
                <a:lnTo>
                  <a:pt x="0" y="7699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1954" y="742950"/>
            <a:ext cx="10250062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3999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Chức năng giỏ hàng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96292" y="3569210"/>
            <a:ext cx="8391708" cy="317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2677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Hiể</a:t>
            </a:r>
            <a:r>
              <a:rPr lang="en-US" sz="2677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n thị danh sách sản phẩm đã chọn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2677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Mỗi sản phẩm gồm: tên sách, giá, số lượng</a:t>
            </a:r>
          </a:p>
          <a:p>
            <a:pPr algn="l">
              <a:lnSpc>
                <a:spcPts val="4256"/>
              </a:lnSpc>
            </a:pPr>
          </a:p>
          <a:p>
            <a:pPr algn="l">
              <a:lnSpc>
                <a:spcPts val="4256"/>
              </a:lnSpc>
            </a:pPr>
            <a:r>
              <a:rPr lang="en-US" sz="2677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Hiển thị tổng tiền của toàn bộ giỏ hàng</a:t>
            </a:r>
          </a:p>
          <a:p>
            <a:pPr algn="l">
              <a:lnSpc>
                <a:spcPts val="4256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50095" y="2632320"/>
            <a:ext cx="8658907" cy="6217935"/>
          </a:xfrm>
          <a:custGeom>
            <a:avLst/>
            <a:gdLst/>
            <a:ahLst/>
            <a:cxnLst/>
            <a:rect r="r" b="b" t="t" l="l"/>
            <a:pathLst>
              <a:path h="6217935" w="8658907">
                <a:moveTo>
                  <a:pt x="0" y="0"/>
                </a:moveTo>
                <a:lnTo>
                  <a:pt x="8658907" y="0"/>
                </a:lnTo>
                <a:lnTo>
                  <a:pt x="8658907" y="6217934"/>
                </a:lnTo>
                <a:lnTo>
                  <a:pt x="0" y="6217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999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3375" y="724521"/>
            <a:ext cx="10250062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3999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cách lưu và load sách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62509" y="3952285"/>
            <a:ext cx="7984440" cy="317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Dữ l</a:t>
            </a: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iệu sách được lưu dưới dạng file JSON</a:t>
            </a:r>
          </a:p>
          <a:p>
            <a:pPr algn="l">
              <a:lnSpc>
                <a:spcPts val="4265"/>
              </a:lnSpc>
            </a:pPr>
          </a:p>
          <a:p>
            <a:pPr algn="l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Mỗi sách là một object: id, tên, giá, ảnh, mô tả</a:t>
            </a:r>
          </a:p>
          <a:p>
            <a:pPr algn="l">
              <a:lnSpc>
                <a:spcPts val="4265"/>
              </a:lnSpc>
            </a:pPr>
          </a:p>
          <a:p>
            <a:pPr algn="l">
              <a:lnSpc>
                <a:spcPts val="4265"/>
              </a:lnSpc>
            </a:pPr>
            <a:r>
              <a:rPr lang="en-US" sz="2682">
                <a:solidFill>
                  <a:srgbClr val="29242C"/>
                </a:solidFill>
                <a:latin typeface="Canva Sans"/>
                <a:ea typeface="Canva Sans"/>
                <a:cs typeface="Canva Sans"/>
                <a:sym typeface="Canva Sans"/>
              </a:rPr>
              <a:t>Dễ quản lý và chỉnh sửa</a:t>
            </a:r>
          </a:p>
          <a:p>
            <a:pPr algn="l">
              <a:lnSpc>
                <a:spcPts val="426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7350" y="-128774"/>
            <a:ext cx="18818003" cy="10415774"/>
            <a:chOff x="0" y="0"/>
            <a:chExt cx="25090671" cy="138876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8950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4828950">
                  <a:moveTo>
                    <a:pt x="0" y="0"/>
                  </a:moveTo>
                  <a:lnTo>
                    <a:pt x="14828950" y="0"/>
                  </a:lnTo>
                  <a:lnTo>
                    <a:pt x="14828950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33313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557117" y="0"/>
              <a:ext cx="10533554" cy="13887698"/>
            </a:xfrm>
            <a:custGeom>
              <a:avLst/>
              <a:gdLst/>
              <a:ahLst/>
              <a:cxnLst/>
              <a:rect r="r" b="b" t="t" l="l"/>
              <a:pathLst>
                <a:path h="13887698" w="10533554">
                  <a:moveTo>
                    <a:pt x="0" y="0"/>
                  </a:moveTo>
                  <a:lnTo>
                    <a:pt x="10533554" y="0"/>
                  </a:lnTo>
                  <a:lnTo>
                    <a:pt x="10533554" y="13887698"/>
                  </a:lnTo>
                  <a:lnTo>
                    <a:pt x="0" y="1388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87676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73613" y="2291407"/>
            <a:ext cx="10140774" cy="5704186"/>
          </a:xfrm>
          <a:custGeom>
            <a:avLst/>
            <a:gdLst/>
            <a:ahLst/>
            <a:cxnLst/>
            <a:rect r="r" b="b" t="t" l="l"/>
            <a:pathLst>
              <a:path h="5704186" w="10140774">
                <a:moveTo>
                  <a:pt x="0" y="0"/>
                </a:moveTo>
                <a:lnTo>
                  <a:pt x="10140774" y="0"/>
                </a:lnTo>
                <a:lnTo>
                  <a:pt x="10140774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51364" y="775634"/>
            <a:ext cx="3758103" cy="41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8" i="true">
                <a:solidFill>
                  <a:srgbClr val="29242C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DAHFnpRpACk</dc:identifier>
  <dcterms:modified xsi:type="dcterms:W3CDTF">2011-08-01T06:04:30Z</dcterms:modified>
  <cp:revision>1</cp:revision>
  <dc:title>Nhóm 10</dc:title>
</cp:coreProperties>
</file>